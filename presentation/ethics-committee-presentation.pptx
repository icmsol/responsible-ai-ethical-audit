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EGnTMM/YrFUQT6IXOYIirpHJD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75" d="100"/>
          <a:sy n="75" d="100"/>
        </p:scale>
        <p:origin x="71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46f1970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b46f1970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46f19708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b46f19708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D6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8991600" cy="10287000"/>
          </a:xfrm>
          <a:custGeom>
            <a:avLst/>
            <a:gdLst/>
            <a:ahLst/>
            <a:cxnLst/>
            <a:rect l="l" t="t" r="r" b="b"/>
            <a:pathLst>
              <a:path w="1035548" h="1184737" extrusionOk="0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77" b="-37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5" name="Google Shape;85;p1"/>
          <p:cNvGrpSpPr/>
          <p:nvPr/>
        </p:nvGrpSpPr>
        <p:grpSpPr>
          <a:xfrm>
            <a:off x="10744200" y="738188"/>
            <a:ext cx="6877050" cy="513647"/>
            <a:chOff x="1" y="95250"/>
            <a:chExt cx="9169400" cy="684862"/>
          </a:xfrm>
        </p:grpSpPr>
        <p:sp>
          <p:nvSpPr>
            <p:cNvPr id="86" name="Google Shape;86;p1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 extrusionOk="0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2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9AC3D6"/>
                  </a:solidFill>
                  <a:latin typeface="Aptos"/>
                </a:rPr>
                <a:t>Responsible AI Review</a:t>
              </a:r>
              <a:endParaRPr/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10734675" y="1712119"/>
            <a:ext cx="6886575" cy="2145908"/>
            <a:chOff x="0" y="200025"/>
            <a:chExt cx="9182100" cy="2861210"/>
          </a:xfrm>
        </p:grpSpPr>
        <p:sp>
          <p:nvSpPr>
            <p:cNvPr id="89" name="Google Shape;89;p1"/>
            <p:cNvSpPr txBox="1"/>
            <p:nvPr/>
          </p:nvSpPr>
          <p:spPr>
            <a:xfrm>
              <a:off x="0" y="200025"/>
              <a:ext cx="9182100" cy="1920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3400" b="0">
                  <a:solidFill>
                    <a:srgbClr val="9AC3D6"/>
                  </a:solidFill>
                  <a:latin typeface="Aptos"/>
                </a:rPr>
                <a:t>Ethics Committee Review</a:t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2371815"/>
              <a:ext cx="9172671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400" b="0" dirty="0">
                  <a:solidFill>
                    <a:srgbClr val="FFFFFF"/>
                  </a:solidFill>
                  <a:latin typeface="Aptos"/>
                </a:rPr>
                <a:t>Gender Bias Audit of Fine-Tuned DistilGPT-2</a:t>
              </a:r>
              <a:endParaRPr sz="2000" dirty="0"/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10744200" y="8705184"/>
            <a:ext cx="5743575" cy="942025"/>
            <a:chOff x="0" y="-47625"/>
            <a:chExt cx="7658100" cy="1256033"/>
          </a:xfrm>
        </p:grpSpPr>
        <p:sp>
          <p:nvSpPr>
            <p:cNvPr id="92" name="Google Shape;92;p1"/>
            <p:cNvSpPr txBox="1"/>
            <p:nvPr/>
          </p:nvSpPr>
          <p:spPr>
            <a:xfrm>
              <a:off x="0" y="691344"/>
              <a:ext cx="7658100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0">
                  <a:solidFill>
                    <a:srgbClr val="FFFFFF"/>
                  </a:solidFill>
                  <a:latin typeface="Aptos"/>
                </a:rPr>
                <a:t>ICM Solutions / Responsible AI Project</a:t>
              </a:r>
              <a:endParaRPr sz="2400"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7658100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200" b="1">
                  <a:solidFill>
                    <a:srgbClr val="FFFFFF"/>
                  </a:solidFill>
                  <a:latin typeface="Aptos"/>
                </a:rPr>
                <a:t>PREPARED FOR</a:t>
              </a:r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C1D9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0734675" y="0"/>
            <a:ext cx="7553325" cy="10287000"/>
          </a:xfrm>
          <a:custGeom>
            <a:avLst/>
            <a:gdLst/>
            <a:ahLst/>
            <a:cxnLst/>
            <a:rect l="l" t="t" r="r" b="b"/>
            <a:pathLst>
              <a:path w="1170208" h="1593725" extrusionOk="0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4" b="-20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9" name="Google Shape;99;p2"/>
          <p:cNvGrpSpPr/>
          <p:nvPr/>
        </p:nvGrpSpPr>
        <p:grpSpPr>
          <a:xfrm>
            <a:off x="666750" y="716756"/>
            <a:ext cx="8324850" cy="5111727"/>
            <a:chOff x="0" y="66675"/>
            <a:chExt cx="11099800" cy="6815637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0" y="66675"/>
              <a:ext cx="11099800" cy="108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4800" b="0">
                  <a:solidFill>
                    <a:srgbClr val="29536D"/>
                  </a:solidFill>
                  <a:latin typeface="Aptos"/>
                </a:rPr>
                <a:t>Executive Summary</a:t>
              </a:r>
              <a:endParaRPr sz="2400"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3533702"/>
              <a:ext cx="11099800" cy="3348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400" b="0">
                  <a:solidFill>
                    <a:srgbClr val="29536D"/>
                  </a:solidFill>
                  <a:latin typeface="Aptos"/>
                </a:rPr>
                <a:t>The audit found gender-sensitive behavior in a model intentionally fine-tuned for bias analysis.</a:t>
              </a:r>
              <a:endParaRPr sz="2400"/>
            </a:p>
            <a:p>
              <a:r>
                <a:rPr sz="2400" b="0">
                  <a:solidFill>
                    <a:srgbClr val="29536D"/>
                  </a:solidFill>
                  <a:latin typeface="Aptos"/>
                </a:rPr>
                <a:t>Neutral technical/executive roles were male-coded; neutral administrative/support roles were female-coded.</a:t>
              </a:r>
            </a:p>
            <a:p>
              <a:r>
                <a:rPr sz="2400" b="0">
                  <a:solidFill>
                    <a:srgbClr val="29536D"/>
                  </a:solidFill>
                  <a:latin typeface="Aptos"/>
                </a:rPr>
                <a:t>Recommendation: do not approve for production employment or personnel decision support.</a:t>
              </a:r>
            </a:p>
          </p:txBody>
        </p:sp>
      </p:grpSp>
      <p:sp>
        <p:nvSpPr>
          <p:cNvPr id="102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03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BFC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9296400" y="2406015"/>
            <a:ext cx="71913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dirty="0">
                <a:solidFill>
                  <a:srgbClr val="1D3D50"/>
                </a:solidFill>
                <a:latin typeface="Aptos"/>
              </a:rPr>
              <a:t>Fine-tuned DistilGPT-2 causal language model.</a:t>
            </a:r>
            <a:endParaRPr sz="2400" dirty="0"/>
          </a:p>
          <a:p>
            <a:r>
              <a:rPr sz="1800" b="0" dirty="0">
                <a:solidFill>
                  <a:srgbClr val="1D3D50"/>
                </a:solidFill>
                <a:latin typeface="Aptos"/>
              </a:rPr>
              <a:t>308 synthetic examples designed to exhibit gender bias in job descriptions, hiring recommendations, and role descriptions.</a:t>
            </a:r>
          </a:p>
          <a:p>
            <a:r>
              <a:rPr sz="1800" b="0" dirty="0">
                <a:solidFill>
                  <a:srgbClr val="1D3D50"/>
                </a:solidFill>
                <a:latin typeface="Aptos"/>
              </a:rPr>
              <a:t>Documented use: education and responsible-AI auditing only.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9296400" y="1823143"/>
            <a:ext cx="7191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29536D"/>
                </a:solidFill>
                <a:latin typeface="Aptos"/>
              </a:rPr>
              <a:t>MODEL AND DATA</a:t>
            </a:r>
            <a:endParaRPr sz="2400" dirty="0"/>
          </a:p>
        </p:txBody>
      </p:sp>
      <p:sp>
        <p:nvSpPr>
          <p:cNvPr id="108" name="Google Shape;108;p3"/>
          <p:cNvSpPr txBox="1"/>
          <p:nvPr/>
        </p:nvSpPr>
        <p:spPr>
          <a:xfrm>
            <a:off x="9296400" y="5095875"/>
            <a:ext cx="7191375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D3D50"/>
                </a:solidFill>
                <a:latin typeface="Aptos"/>
              </a:rPr>
              <a:t>Predefined and custom prompts; controlled sensitivity tests; counterfactual gender swaps; completion-only Jaccard similarity; lexicon-based bias-signal analysis.</a:t>
            </a:r>
            <a:endParaRPr sz="2400"/>
          </a:p>
          <a:p>
            <a:r>
              <a:rPr sz="1800" b="0">
                <a:solidFill>
                  <a:srgbClr val="1D3D50"/>
                </a:solidFill>
                <a:latin typeface="Aptos"/>
              </a:rPr>
              <a:t>Primary seed: 42; supplemental robustness seeds: 123 and 2026.</a:t>
            </a:r>
          </a:p>
        </p:txBody>
      </p:sp>
      <p:sp>
        <p:nvSpPr>
          <p:cNvPr id="109" name="Google Shape;109;p3"/>
          <p:cNvSpPr txBox="1"/>
          <p:nvPr/>
        </p:nvSpPr>
        <p:spPr>
          <a:xfrm>
            <a:off x="9296400" y="4556880"/>
            <a:ext cx="7191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29536D"/>
                </a:solidFill>
                <a:latin typeface="Aptos"/>
              </a:rPr>
              <a:t>AUDIT TECHNIQUES</a:t>
            </a:r>
            <a:endParaRPr sz="2400" dirty="0"/>
          </a:p>
        </p:txBody>
      </p:sp>
      <p:sp>
        <p:nvSpPr>
          <p:cNvPr id="110" name="Google Shape;110;p3"/>
          <p:cNvSpPr txBox="1"/>
          <p:nvPr/>
        </p:nvSpPr>
        <p:spPr>
          <a:xfrm>
            <a:off x="9296400" y="7778115"/>
            <a:ext cx="71913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D3D50"/>
                </a:solidFill>
                <a:latin typeface="Aptos"/>
              </a:rPr>
              <a:t>This was a bounded behavioral audit, not a statistically powered population study or production-system security assessment.</a:t>
            </a:r>
            <a:endParaRPr sz="2400"/>
          </a:p>
          <a:p>
            <a:r>
              <a:rPr sz="1800" b="0">
                <a:solidFill>
                  <a:srgbClr val="1D3D50"/>
                </a:solidFill>
                <a:latin typeface="Aptos"/>
              </a:rPr>
              <a:t>Findings should be used to guide mitigation and governance decisions before any deployment consideration.</a:t>
            </a:r>
          </a:p>
        </p:txBody>
      </p:sp>
      <p:sp>
        <p:nvSpPr>
          <p:cNvPr id="111" name="Google Shape;111;p3"/>
          <p:cNvSpPr txBox="1"/>
          <p:nvPr/>
        </p:nvSpPr>
        <p:spPr>
          <a:xfrm>
            <a:off x="9296400" y="7226462"/>
            <a:ext cx="7191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29536D"/>
                </a:solidFill>
                <a:latin typeface="Aptos"/>
              </a:rPr>
              <a:t>KEY BOUNDARY</a:t>
            </a:r>
            <a:endParaRPr sz="2400" dirty="0"/>
          </a:p>
        </p:txBody>
      </p:sp>
      <p:sp>
        <p:nvSpPr>
          <p:cNvPr id="112" name="Google Shape;112;p3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29536D"/>
                </a:solidFill>
                <a:latin typeface="Aptos"/>
              </a:rPr>
              <a:t>Model
Overview</a:t>
            </a:r>
            <a:endParaRPr/>
          </a:p>
        </p:txBody>
      </p:sp>
      <p:sp>
        <p:nvSpPr>
          <p:cNvPr id="113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14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D69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9279467" y="1394781"/>
            <a:ext cx="6886575" cy="74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dirty="0">
                <a:solidFill>
                  <a:srgbClr val="FFFFFF"/>
                </a:solidFill>
                <a:latin typeface="Aptos"/>
              </a:rPr>
              <a:t>The audit evaluated whether the model:</a:t>
            </a:r>
            <a:endParaRPr sz="2800" dirty="0"/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• introduces gender in neutral employment prompts;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• follows explicit man/woman prompt instructions;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• changes professional framing when gender cues are swapped;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• produces leadership or support language unevenly; and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• generates reliability artifacts such as inconsistent pronouns or unsupported attributions.</a:t>
            </a:r>
          </a:p>
          <a:p>
            <a:endParaRPr sz="2800" b="0" dirty="0">
              <a:solidFill>
                <a:srgbClr val="FFFFFF"/>
              </a:solidFill>
              <a:latin typeface="Aptos"/>
            </a:endParaRP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Out of scope: production HR workflow validation, legal determination, privacy engineering review, penetration testing, and direct carbon measurement.</a:t>
            </a:r>
          </a:p>
        </p:txBody>
      </p:sp>
      <p:sp>
        <p:nvSpPr>
          <p:cNvPr id="118" name="Google Shape;118;p4"/>
          <p:cNvSpPr txBox="1"/>
          <p:nvPr/>
        </p:nvSpPr>
        <p:spPr>
          <a:xfrm>
            <a:off x="666750" y="657225"/>
            <a:ext cx="5762625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9AC3D6"/>
                </a:solidFill>
                <a:latin typeface="Aptos"/>
              </a:rPr>
              <a:t>Audit Scope</a:t>
            </a:r>
            <a:endParaRPr/>
          </a:p>
        </p:txBody>
      </p:sp>
      <p:sp>
        <p:nvSpPr>
          <p:cNvPr id="119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20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C1D9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9536D"/>
                </a:solidFill>
                <a:latin typeface="Aptos"/>
              </a:rPr>
              <a:t>Findings and Explainability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66750" y="3352800"/>
            <a:ext cx="8324850" cy="6267450"/>
          </a:xfrm>
          <a:custGeom>
            <a:avLst/>
            <a:gdLst/>
            <a:ahLst/>
            <a:cxnLst/>
            <a:rect l="l" t="t" r="r" b="b"/>
            <a:pathLst>
              <a:path w="2103597" h="1583715" extrusionOk="0">
                <a:moveTo>
                  <a:pt x="0" y="0"/>
                </a:moveTo>
                <a:lnTo>
                  <a:pt x="2103597" y="0"/>
                </a:lnTo>
                <a:lnTo>
                  <a:pt x="2103597" y="1583715"/>
                </a:lnTo>
                <a:lnTo>
                  <a:pt x="0" y="158371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7" r="-356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Google Shape;125;p5"/>
          <p:cNvSpPr/>
          <p:nvPr/>
        </p:nvSpPr>
        <p:spPr>
          <a:xfrm>
            <a:off x="9296400" y="3352800"/>
            <a:ext cx="8324850" cy="6267450"/>
          </a:xfrm>
          <a:custGeom>
            <a:avLst/>
            <a:gdLst/>
            <a:ahLst/>
            <a:cxnLst/>
            <a:rect l="l" t="t" r="r" b="b"/>
            <a:pathLst>
              <a:path w="2103597" h="1583715" extrusionOk="0">
                <a:moveTo>
                  <a:pt x="0" y="0"/>
                </a:moveTo>
                <a:lnTo>
                  <a:pt x="2103597" y="0"/>
                </a:lnTo>
                <a:lnTo>
                  <a:pt x="2103597" y="1583715"/>
                </a:lnTo>
                <a:lnTo>
                  <a:pt x="0" y="158371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57" r="-356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Evidence chain 1"/>
          <p:cNvSpPr/>
          <p:nvPr/>
        </p:nvSpPr>
        <p:spPr>
          <a:xfrm>
            <a:off x="731520" y="1508760"/>
            <a:ext cx="3749039" cy="1097280"/>
          </a:xfrm>
          <a:prstGeom prst="roundRect">
            <a:avLst/>
          </a:prstGeom>
          <a:solidFill>
            <a:srgbClr val="DAF5F6"/>
          </a:solidFill>
          <a:ln>
            <a:solidFill>
              <a:srgbClr val="295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7" name="Evidence chain title 1"/>
          <p:cNvSpPr txBox="1"/>
          <p:nvPr/>
        </p:nvSpPr>
        <p:spPr>
          <a:xfrm>
            <a:off x="841248" y="1618488"/>
            <a:ext cx="3529584" cy="4247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1">
                <a:solidFill>
                  <a:srgbClr val="29536D"/>
                </a:solidFill>
                <a:latin typeface="Aptos"/>
              </a:rPr>
              <a:t>Prompt tests</a:t>
            </a:r>
          </a:p>
        </p:txBody>
      </p:sp>
      <p:sp>
        <p:nvSpPr>
          <p:cNvPr id="128" name="Evidence chain body 1"/>
          <p:cNvSpPr txBox="1"/>
          <p:nvPr/>
        </p:nvSpPr>
        <p:spPr>
          <a:xfrm>
            <a:off x="841248" y="2011680"/>
            <a:ext cx="3529584" cy="6401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0">
                <a:solidFill>
                  <a:srgbClr val="1D3D50"/>
                </a:solidFill>
                <a:latin typeface="Aptos"/>
              </a:rPr>
              <a:t>6 predefined
6 custom</a:t>
            </a:r>
          </a:p>
        </p:txBody>
      </p:sp>
      <p:sp>
        <p:nvSpPr>
          <p:cNvPr id="129" name="Evidence chain 2"/>
          <p:cNvSpPr/>
          <p:nvPr/>
        </p:nvSpPr>
        <p:spPr>
          <a:xfrm>
            <a:off x="5074920" y="1508760"/>
            <a:ext cx="3749039" cy="1097280"/>
          </a:xfrm>
          <a:prstGeom prst="roundRect">
            <a:avLst/>
          </a:prstGeom>
          <a:solidFill>
            <a:srgbClr val="DAF5F6"/>
          </a:solidFill>
          <a:ln>
            <a:solidFill>
              <a:srgbClr val="295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0" name="Evidence chain title 2"/>
          <p:cNvSpPr txBox="1"/>
          <p:nvPr/>
        </p:nvSpPr>
        <p:spPr>
          <a:xfrm>
            <a:off x="5184648" y="1618488"/>
            <a:ext cx="3529584" cy="4247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1">
                <a:solidFill>
                  <a:srgbClr val="29536D"/>
                </a:solidFill>
                <a:latin typeface="Aptos"/>
              </a:rPr>
              <a:t>Sensitivity</a:t>
            </a:r>
          </a:p>
        </p:txBody>
      </p:sp>
      <p:sp>
        <p:nvSpPr>
          <p:cNvPr id="131" name="Evidence chain body 2"/>
          <p:cNvSpPr txBox="1"/>
          <p:nvPr/>
        </p:nvSpPr>
        <p:spPr>
          <a:xfrm>
            <a:off x="5184648" y="2011680"/>
            <a:ext cx="3529584" cy="6401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0">
                <a:solidFill>
                  <a:srgbClr val="1D3D50"/>
                </a:solidFill>
                <a:latin typeface="Aptos"/>
              </a:rPr>
              <a:t>12 controlled
role/gender cases</a:t>
            </a:r>
          </a:p>
        </p:txBody>
      </p:sp>
      <p:sp>
        <p:nvSpPr>
          <p:cNvPr id="132" name="Evidence chain 3"/>
          <p:cNvSpPr/>
          <p:nvPr/>
        </p:nvSpPr>
        <p:spPr>
          <a:xfrm>
            <a:off x="9418320" y="1508760"/>
            <a:ext cx="3749039" cy="1097280"/>
          </a:xfrm>
          <a:prstGeom prst="roundRect">
            <a:avLst/>
          </a:prstGeom>
          <a:solidFill>
            <a:srgbClr val="DAF5F6"/>
          </a:solidFill>
          <a:ln>
            <a:solidFill>
              <a:srgbClr val="295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3" name="Evidence chain title 3"/>
          <p:cNvSpPr txBox="1"/>
          <p:nvPr/>
        </p:nvSpPr>
        <p:spPr>
          <a:xfrm>
            <a:off x="9528048" y="1618488"/>
            <a:ext cx="3529584" cy="4247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1">
                <a:solidFill>
                  <a:srgbClr val="29536D"/>
                </a:solidFill>
                <a:latin typeface="Aptos"/>
              </a:rPr>
              <a:t>Counterfactual</a:t>
            </a:r>
          </a:p>
        </p:txBody>
      </p:sp>
      <p:sp>
        <p:nvSpPr>
          <p:cNvPr id="134" name="Evidence chain body 3"/>
          <p:cNvSpPr txBox="1"/>
          <p:nvPr/>
        </p:nvSpPr>
        <p:spPr>
          <a:xfrm>
            <a:off x="9528048" y="2011680"/>
            <a:ext cx="3529584" cy="6401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0">
                <a:solidFill>
                  <a:srgbClr val="1D3D50"/>
                </a:solidFill>
                <a:latin typeface="Aptos"/>
              </a:rPr>
              <a:t>6 pairs +
Jaccard scores</a:t>
            </a:r>
          </a:p>
        </p:txBody>
      </p:sp>
      <p:sp>
        <p:nvSpPr>
          <p:cNvPr id="135" name="Evidence chain 4"/>
          <p:cNvSpPr/>
          <p:nvPr/>
        </p:nvSpPr>
        <p:spPr>
          <a:xfrm>
            <a:off x="13761720" y="1508760"/>
            <a:ext cx="3749039" cy="1097280"/>
          </a:xfrm>
          <a:prstGeom prst="roundRect">
            <a:avLst/>
          </a:prstGeom>
          <a:solidFill>
            <a:srgbClr val="DAF5F6"/>
          </a:solidFill>
          <a:ln>
            <a:solidFill>
              <a:srgbClr val="295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6" name="Evidence chain title 4"/>
          <p:cNvSpPr txBox="1"/>
          <p:nvPr/>
        </p:nvSpPr>
        <p:spPr>
          <a:xfrm>
            <a:off x="13871448" y="1618488"/>
            <a:ext cx="3529584" cy="4247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1">
                <a:solidFill>
                  <a:srgbClr val="29536D"/>
                </a:solidFill>
                <a:latin typeface="Aptos"/>
              </a:rPr>
              <a:t>Lexicon XAI</a:t>
            </a:r>
          </a:p>
        </p:txBody>
      </p:sp>
      <p:sp>
        <p:nvSpPr>
          <p:cNvPr id="137" name="Evidence chain body 4"/>
          <p:cNvSpPr txBox="1"/>
          <p:nvPr/>
        </p:nvSpPr>
        <p:spPr>
          <a:xfrm>
            <a:off x="13871448" y="2011680"/>
            <a:ext cx="3529584" cy="6401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0">
                <a:solidFill>
                  <a:srgbClr val="1D3D50"/>
                </a:solidFill>
                <a:latin typeface="Aptos"/>
              </a:rPr>
              <a:t>Gender terms
Leadership/support</a:t>
            </a:r>
          </a:p>
        </p:txBody>
      </p:sp>
      <p:sp>
        <p:nvSpPr>
          <p:cNvPr id="138" name="evidence-chain-note"/>
          <p:cNvSpPr txBox="1"/>
          <p:nvPr/>
        </p:nvSpPr>
        <p:spPr>
          <a:xfrm>
            <a:off x="731520" y="8869680"/>
            <a:ext cx="1627632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300" b="0">
                <a:solidFill>
                  <a:srgbClr val="29536D"/>
                </a:solidFill>
                <a:latin typeface="Aptos"/>
              </a:rPr>
              <a:t>Evidence was generated from completions only, so prompt wording did not contaminate gender counts or counterfactual similarity.</a:t>
            </a:r>
          </a:p>
        </p:txBody>
      </p:sp>
      <p:sp>
        <p:nvSpPr>
          <p:cNvPr id="139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40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D69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6f197084_0_0"/>
          <p:cNvSpPr txBox="1"/>
          <p:nvPr/>
        </p:nvSpPr>
        <p:spPr>
          <a:xfrm>
            <a:off x="9144000" y="1258358"/>
            <a:ext cx="6886500" cy="8100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dirty="0">
                <a:solidFill>
                  <a:srgbClr val="FFFFFF"/>
                </a:solidFill>
                <a:latin typeface="Aptos"/>
              </a:rPr>
              <a:t>F-01: Neutral prompts spontaneously gendered all four roles tested.</a:t>
            </a:r>
            <a:endParaRPr sz="3200" dirty="0"/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F-02: Woman-conditioned prompts showed more gender-language inconsistency than man-conditioned prompts in this bounded test.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F-03: Underspecified comparative hiring prompts selected male candidates without supplied qualifications.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F-04: Five of six primary counterfactual cases showed substantial response divergence.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F-05: Leadership/support counts were mixed; lexicon results must be read with qualitative review.</a:t>
            </a:r>
          </a:p>
          <a:p>
            <a:r>
              <a:rPr sz="2800" b="0" dirty="0">
                <a:solidFill>
                  <a:srgbClr val="FFFFFF"/>
                </a:solidFill>
                <a:latin typeface="Aptos"/>
              </a:rPr>
              <a:t>F-06: Outputs included reliability artifacts: mixed pronouns, extra response markers, and invented-looking references.</a:t>
            </a:r>
          </a:p>
        </p:txBody>
      </p:sp>
      <p:sp>
        <p:nvSpPr>
          <p:cNvPr id="131" name="Google Shape;131;g3b46f197084_0_0"/>
          <p:cNvSpPr txBox="1"/>
          <p:nvPr/>
        </p:nvSpPr>
        <p:spPr>
          <a:xfrm>
            <a:off x="666750" y="657225"/>
            <a:ext cx="57627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3200" b="0">
                <a:solidFill>
                  <a:srgbClr val="9AC3D6"/>
                </a:solidFill>
                <a:latin typeface="Aptos"/>
              </a:rPr>
              <a:t>Key
Findings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33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C1D9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46f197084_0_5"/>
          <p:cNvSpPr txBox="1"/>
          <p:nvPr/>
        </p:nvSpPr>
        <p:spPr>
          <a:xfrm>
            <a:off x="666750" y="733425"/>
            <a:ext cx="57531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9536D"/>
                </a:solidFill>
                <a:latin typeface="Aptos"/>
              </a:rPr>
              <a:t>Explainability
Summary
Table</a:t>
            </a:r>
            <a:endParaRPr/>
          </a:p>
        </p:txBody>
      </p:sp>
      <p:graphicFrame>
        <p:nvGraphicFramePr>
          <p:cNvPr id="137" name="Authoritative Explainability 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07126"/>
              </p:ext>
            </p:extLst>
          </p:nvPr>
        </p:nvGraphicFramePr>
        <p:xfrm>
          <a:off x="4937760" y="960120"/>
          <a:ext cx="12893040" cy="786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6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82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0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06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40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137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491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Male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Female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Lead Trait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Support Trait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Lead Action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Support Action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Senior Platform Engineer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Neutral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Senior Platform Engineer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Woman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Senior Platform Engineer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Man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S04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Chief Information Officer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Neutral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Chief Information Officer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Woman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S06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Chief Information Officer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Man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1D3D5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Administrative Assistant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Neutral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S08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Administrative Assistant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Woman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Administrative Assistant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Man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S10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Customer Support Manager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Neutral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0491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Customer Support Manager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Woman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4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S12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Customer Support Manager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Man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D3D5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1D3D5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8" name="summary-table-callout"/>
          <p:cNvSpPr txBox="1"/>
          <p:nvPr/>
        </p:nvSpPr>
        <p:spPr>
          <a:xfrm>
            <a:off x="666750" y="4462942"/>
            <a:ext cx="3749039" cy="34717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400" b="0" dirty="0">
                <a:solidFill>
                  <a:srgbClr val="1D3D50"/>
                </a:solidFill>
                <a:latin typeface="Aptos"/>
              </a:rPr>
              <a:t>Neutral roles: technical/executive outputs were male-coded; administrative/support outputs were female-coded. Woman-conditioned technical roles still produced unexpected male terms.</a:t>
            </a:r>
          </a:p>
        </p:txBody>
      </p:sp>
      <p:sp>
        <p:nvSpPr>
          <p:cNvPr id="139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40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BFC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9536D"/>
                </a:solidFill>
                <a:latin typeface="Aptos"/>
              </a:rPr>
              <a:t>Risk Assessment</a:t>
            </a:r>
            <a:endParaRPr/>
          </a:p>
        </p:txBody>
      </p:sp>
      <p:graphicFrame>
        <p:nvGraphicFramePr>
          <p:cNvPr id="154" name="Risk assess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76510"/>
              </p:ext>
            </p:extLst>
          </p:nvPr>
        </p:nvGraphicFramePr>
        <p:xfrm>
          <a:off x="914400" y="1828800"/>
          <a:ext cx="164592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 marL="36576" marR="36576" marT="27432" marB="27432">
                    <a:solidFill>
                      <a:srgbClr val="295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Ethical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Stereotyped role/gender associations and inconsistent representation could reinforce unfair employment framing.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Employment use could create discrimination/compliance exposure if outputs influence HR or hiring decisions.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Privacy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Dataset is synthetic; no verified personal-data leakage observed in this bounded audit.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Security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Generated attributions, handles, and external-looking references create content-integrity concerns.</a:t>
                      </a:r>
                    </a:p>
                  </a:txBody>
                  <a:tcPr marL="36576" marR="36576" marT="27432" marB="27432">
                    <a:solidFill>
                      <a:srgbClr val="EE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Environmental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D3D50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D3D50"/>
                          </a:solidFill>
                          <a:latin typeface="Aptos"/>
                        </a:rPr>
                        <a:t>Small model and bounded inference workload; direct energy/carbon impact was not measured.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5" name="risk-boundary-callout"/>
          <p:cNvSpPr txBox="1"/>
          <p:nvPr/>
        </p:nvSpPr>
        <p:spPr>
          <a:xfrm>
            <a:off x="914400" y="8229600"/>
            <a:ext cx="16276320" cy="88639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400" b="1" dirty="0">
                <a:solidFill>
                  <a:srgbClr val="29536D"/>
                </a:solidFill>
                <a:latin typeface="Aptos"/>
              </a:rPr>
              <a:t>Boundary: the model should remain limited to educational/research use and should not be used for production employment decision support.</a:t>
            </a:r>
          </a:p>
        </p:txBody>
      </p:sp>
      <p:sp>
        <p:nvSpPr>
          <p:cNvPr id="156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57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C1D9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9279467" y="1628775"/>
            <a:ext cx="7191375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D3D50"/>
                </a:solidFill>
                <a:latin typeface="Aptos"/>
              </a:rPr>
              <a:t>Repair or rebalance training data before retraining.</a:t>
            </a:r>
            <a:endParaRPr sz="2800"/>
          </a:p>
          <a:p>
            <a:r>
              <a:rPr sz="2400" b="0">
                <a:solidFill>
                  <a:srgbClr val="1D3D50"/>
                </a:solidFill>
                <a:latin typeface="Aptos"/>
              </a:rPr>
              <a:t>Run counterfactual and lexicon gates before release.</a:t>
            </a:r>
          </a:p>
          <a:p>
            <a:r>
              <a:rPr sz="2400" b="0">
                <a:solidFill>
                  <a:srgbClr val="1D3D50"/>
                </a:solidFill>
                <a:latin typeface="Aptos"/>
              </a:rPr>
              <a:t>Block or flag unsupported candidate-ranking language.</a:t>
            </a:r>
          </a:p>
        </p:txBody>
      </p:sp>
      <p:sp>
        <p:nvSpPr>
          <p:cNvPr id="159" name="Google Shape;159;p7"/>
          <p:cNvSpPr txBox="1"/>
          <p:nvPr/>
        </p:nvSpPr>
        <p:spPr>
          <a:xfrm>
            <a:off x="9279467" y="733425"/>
            <a:ext cx="719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536D"/>
                </a:solidFill>
                <a:latin typeface="Aptos"/>
              </a:rPr>
              <a:t>TECHNICAL CONTROLS</a:t>
            </a:r>
            <a:endParaRPr sz="2800"/>
          </a:p>
        </p:txBody>
      </p:sp>
      <p:sp>
        <p:nvSpPr>
          <p:cNvPr id="160" name="Google Shape;160;p7"/>
          <p:cNvSpPr txBox="1"/>
          <p:nvPr/>
        </p:nvSpPr>
        <p:spPr>
          <a:xfrm>
            <a:off x="9279466" y="3945047"/>
            <a:ext cx="7191375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dirty="0">
                <a:solidFill>
                  <a:srgbClr val="1D3D50"/>
                </a:solidFill>
                <a:latin typeface="Aptos"/>
              </a:rPr>
              <a:t>Treat generated content as draft text only.</a:t>
            </a:r>
            <a:endParaRPr sz="2800" dirty="0"/>
          </a:p>
          <a:p>
            <a:r>
              <a:rPr sz="2400" b="0" dirty="0">
                <a:solidFill>
                  <a:srgbClr val="1D3D50"/>
                </a:solidFill>
                <a:latin typeface="Aptos"/>
              </a:rPr>
              <a:t>Require validation before use in job descriptions or personnel materials.</a:t>
            </a:r>
          </a:p>
          <a:p>
            <a:r>
              <a:rPr sz="2400" b="0" dirty="0">
                <a:solidFill>
                  <a:srgbClr val="1D3D50"/>
                </a:solidFill>
                <a:latin typeface="Aptos"/>
              </a:rPr>
              <a:t>Detect gender-inconsistent identity language and malformed artifacts.</a:t>
            </a:r>
          </a:p>
        </p:txBody>
      </p:sp>
      <p:sp>
        <p:nvSpPr>
          <p:cNvPr id="161" name="Google Shape;161;p7"/>
          <p:cNvSpPr txBox="1"/>
          <p:nvPr/>
        </p:nvSpPr>
        <p:spPr>
          <a:xfrm>
            <a:off x="9279467" y="3423285"/>
            <a:ext cx="719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9536D"/>
                </a:solidFill>
                <a:latin typeface="Aptos"/>
              </a:rPr>
              <a:t>OUTPUT CONTROLS</a:t>
            </a:r>
            <a:endParaRPr sz="2800"/>
          </a:p>
        </p:txBody>
      </p:sp>
      <p:sp>
        <p:nvSpPr>
          <p:cNvPr id="162" name="Google Shape;162;p7"/>
          <p:cNvSpPr txBox="1"/>
          <p:nvPr/>
        </p:nvSpPr>
        <p:spPr>
          <a:xfrm>
            <a:off x="9279467" y="7000875"/>
            <a:ext cx="7191375" cy="251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D3D50"/>
                </a:solidFill>
                <a:latin typeface="Aptos"/>
              </a:rPr>
              <a:t>Human review remains mandatory for employment-related content.</a:t>
            </a:r>
            <a:endParaRPr sz="2800"/>
          </a:p>
          <a:p>
            <a:r>
              <a:rPr sz="2400" b="0">
                <a:solidFill>
                  <a:srgbClr val="1D3D50"/>
                </a:solidFill>
                <a:latin typeface="Aptos"/>
              </a:rPr>
              <a:t>Track drift using recurring prompt suites and frozen evidence tables.</a:t>
            </a:r>
          </a:p>
          <a:p>
            <a:r>
              <a:rPr sz="2400" b="0">
                <a:solidFill>
                  <a:srgbClr val="1D3D50"/>
                </a:solidFill>
                <a:latin typeface="Aptos"/>
              </a:rPr>
              <a:t>Maintain risk acceptance, escalation, and residual-risk ownership.</a:t>
            </a:r>
          </a:p>
        </p:txBody>
      </p:sp>
      <p:sp>
        <p:nvSpPr>
          <p:cNvPr id="163" name="Google Shape;163;p7"/>
          <p:cNvSpPr txBox="1"/>
          <p:nvPr/>
        </p:nvSpPr>
        <p:spPr>
          <a:xfrm>
            <a:off x="9279467" y="6441507"/>
            <a:ext cx="719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>
                <a:solidFill>
                  <a:srgbClr val="29536D"/>
                </a:solidFill>
                <a:latin typeface="Aptos"/>
              </a:rPr>
              <a:t>GOVERNANCE AND MONITORING</a:t>
            </a:r>
            <a:endParaRPr sz="2800" dirty="0"/>
          </a:p>
        </p:txBody>
      </p:sp>
      <p:sp>
        <p:nvSpPr>
          <p:cNvPr id="164" name="Google Shape;164;p7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29536D"/>
                </a:solidFill>
                <a:latin typeface="Aptos"/>
              </a:rPr>
              <a:t>Mitigation
Strategy</a:t>
            </a:r>
            <a:endParaRPr/>
          </a:p>
        </p:txBody>
      </p:sp>
      <p:sp>
        <p:nvSpPr>
          <p:cNvPr id="165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66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BFC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29536D"/>
                </a:solidFill>
                <a:latin typeface="Aptos"/>
              </a:rPr>
              <a:t>Residual
Risks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9296399" y="2069598"/>
            <a:ext cx="7191375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D3D50"/>
                </a:solidFill>
                <a:latin typeface="Aptos"/>
              </a:rPr>
              <a:t>Even after controls, residual risk remains if users over-rely on generated content or bypass human review.</a:t>
            </a:r>
            <a:endParaRPr sz="2400" dirty="0"/>
          </a:p>
          <a:p>
            <a:r>
              <a:rPr sz="2000" b="0" dirty="0">
                <a:solidFill>
                  <a:srgbClr val="1D3D50"/>
                </a:solidFill>
                <a:latin typeface="Aptos"/>
              </a:rPr>
              <a:t>Stochastic generation means single outputs can vary by seed; monitoring must evaluate distributions, not isolated examples.</a:t>
            </a:r>
          </a:p>
          <a:p>
            <a:r>
              <a:rPr sz="2000" b="0" dirty="0">
                <a:solidFill>
                  <a:srgbClr val="1D3D50"/>
                </a:solidFill>
                <a:latin typeface="Aptos"/>
              </a:rPr>
              <a:t>Lexicon metrics are useful signals but cannot independently prove fairness.</a:t>
            </a:r>
          </a:p>
        </p:txBody>
      </p:sp>
      <p:sp>
        <p:nvSpPr>
          <p:cNvPr id="171" name="Google Shape;171;p8"/>
          <p:cNvSpPr txBox="1"/>
          <p:nvPr/>
        </p:nvSpPr>
        <p:spPr>
          <a:xfrm>
            <a:off x="9296400" y="1514475"/>
            <a:ext cx="7191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536D"/>
                </a:solidFill>
                <a:latin typeface="Aptos"/>
              </a:rPr>
              <a:t>REMAINING UNCERTAINTIES</a:t>
            </a:r>
            <a:endParaRPr sz="2400"/>
          </a:p>
        </p:txBody>
      </p:sp>
      <p:sp>
        <p:nvSpPr>
          <p:cNvPr id="172" name="Google Shape;172;p8"/>
          <p:cNvSpPr txBox="1"/>
          <p:nvPr/>
        </p:nvSpPr>
        <p:spPr>
          <a:xfrm>
            <a:off x="9296400" y="5105400"/>
            <a:ext cx="7191375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1D3D50"/>
                </a:solidFill>
                <a:latin typeface="Aptos"/>
              </a:rPr>
              <a:t>Do not move toward production until mitigations are validated against predefined success thresholds.</a:t>
            </a:r>
            <a:endParaRPr sz="2400" dirty="0"/>
          </a:p>
          <a:p>
            <a:r>
              <a:rPr sz="2000" b="0" dirty="0">
                <a:solidFill>
                  <a:srgbClr val="1D3D50"/>
                </a:solidFill>
                <a:latin typeface="Aptos"/>
              </a:rPr>
              <a:t>Require a separate privacy, security, legal, and environmental review for any real deployment.</a:t>
            </a:r>
          </a:p>
          <a:p>
            <a:r>
              <a:rPr sz="2000" b="0" dirty="0">
                <a:solidFill>
                  <a:srgbClr val="1D3D50"/>
                </a:solidFill>
                <a:latin typeface="Aptos"/>
              </a:rPr>
              <a:t>Repeat evaluation when the model, data, prompts, or intended use changes.</a:t>
            </a:r>
          </a:p>
        </p:txBody>
      </p:sp>
      <p:sp>
        <p:nvSpPr>
          <p:cNvPr id="173" name="Google Shape;173;p8"/>
          <p:cNvSpPr txBox="1"/>
          <p:nvPr/>
        </p:nvSpPr>
        <p:spPr>
          <a:xfrm>
            <a:off x="9296399" y="4717602"/>
            <a:ext cx="7191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9536D"/>
                </a:solidFill>
                <a:latin typeface="Aptos"/>
              </a:rPr>
              <a:t>FURTHER RECOMMENDATIONS</a:t>
            </a:r>
            <a:endParaRPr sz="2400"/>
          </a:p>
        </p:txBody>
      </p:sp>
      <p:sp>
        <p:nvSpPr>
          <p:cNvPr id="174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75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C1D9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10734675" y="0"/>
            <a:ext cx="7553325" cy="10287000"/>
          </a:xfrm>
          <a:custGeom>
            <a:avLst/>
            <a:gdLst/>
            <a:ahLst/>
            <a:cxnLst/>
            <a:rect l="l" t="t" r="r" b="b"/>
            <a:pathLst>
              <a:path w="1170208" h="1593725" extrusionOk="0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4" b="-20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9"/>
          <p:cNvSpPr txBox="1"/>
          <p:nvPr/>
        </p:nvSpPr>
        <p:spPr>
          <a:xfrm>
            <a:off x="666750" y="851535"/>
            <a:ext cx="97632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29536D"/>
                </a:solidFill>
                <a:latin typeface="Aptos"/>
              </a:rPr>
              <a:t>Next Steps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802700" y="2728430"/>
            <a:ext cx="71913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dirty="0">
                <a:solidFill>
                  <a:srgbClr val="29536D"/>
                </a:solidFill>
                <a:latin typeface="Aptos"/>
              </a:rPr>
              <a:t>COMMITTEE RECOMMENDATION</a:t>
            </a:r>
            <a:endParaRPr sz="3600" dirty="0"/>
          </a:p>
        </p:txBody>
      </p:sp>
      <p:sp>
        <p:nvSpPr>
          <p:cNvPr id="181" name="Google Shape;181;p9"/>
          <p:cNvSpPr txBox="1"/>
          <p:nvPr/>
        </p:nvSpPr>
        <p:spPr>
          <a:xfrm>
            <a:off x="802700" y="3540350"/>
            <a:ext cx="7191300" cy="568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dirty="0">
                <a:solidFill>
                  <a:srgbClr val="1D3D50"/>
                </a:solidFill>
                <a:latin typeface="Aptos"/>
              </a:rPr>
              <a:t>Decision: Do not approve this model for production employment or personnel decision support.</a:t>
            </a:r>
            <a:endParaRPr sz="2800" dirty="0"/>
          </a:p>
          <a:p>
            <a:r>
              <a:rPr sz="2800" b="0" dirty="0">
                <a:solidFill>
                  <a:srgbClr val="1D3D50"/>
                </a:solidFill>
                <a:latin typeface="Aptos"/>
              </a:rPr>
              <a:t>Approve only continued educational/research use with clear warnings and documented limitations.</a:t>
            </a:r>
          </a:p>
          <a:p>
            <a:r>
              <a:rPr sz="2800" b="0" dirty="0">
                <a:solidFill>
                  <a:srgbClr val="1D3D50"/>
                </a:solidFill>
                <a:latin typeface="Aptos"/>
              </a:rPr>
              <a:t>Authorize mitigation planning, validation thresholds, and repeat testing before any future deployment consideration.</a:t>
            </a:r>
          </a:p>
          <a:p>
            <a:r>
              <a:rPr sz="2800" b="0" dirty="0">
                <a:solidFill>
                  <a:srgbClr val="1D3D50"/>
                </a:solidFill>
                <a:latin typeface="Aptos"/>
              </a:rPr>
              <a:t>Require human review, legal review, and security/privacy assessment for any proposed real-world use.</a:t>
            </a:r>
          </a:p>
        </p:txBody>
      </p:sp>
      <p:sp>
        <p:nvSpPr>
          <p:cNvPr id="182" name="footer"/>
          <p:cNvSpPr txBox="1"/>
          <p:nvPr/>
        </p:nvSpPr>
        <p:spPr>
          <a:xfrm>
            <a:off x="594360" y="973836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900" b="0">
                <a:solidFill>
                  <a:srgbClr val="525D64"/>
                </a:solidFill>
                <a:latin typeface="Aptos"/>
              </a:rPr>
              <a:t>Responsible AI Ethical Audit | Ethics Committee Review</a:t>
            </a:r>
          </a:p>
        </p:txBody>
      </p:sp>
      <p:sp>
        <p:nvSpPr>
          <p:cNvPr id="183" name="slide-number"/>
          <p:cNvSpPr txBox="1"/>
          <p:nvPr/>
        </p:nvSpPr>
        <p:spPr>
          <a:xfrm>
            <a:off x="17007840" y="9738360"/>
            <a:ext cx="8229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900" b="0">
                <a:solidFill>
                  <a:srgbClr val="525D6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Microsoft Macintosh PowerPoint</Application>
  <PresentationFormat>Custom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Muniz</cp:lastModifiedBy>
  <cp:revision>1</cp:revision>
  <dcterms:created xsi:type="dcterms:W3CDTF">2006-08-16T00:00:00Z</dcterms:created>
  <dcterms:modified xsi:type="dcterms:W3CDTF">2026-08-17T22:29:54Z</dcterms:modified>
</cp:coreProperties>
</file>